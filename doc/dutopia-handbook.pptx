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274320" cy="109728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38D90"/>
                </a:solidFill>
                <a:latin typeface="Segoe UI"/>
              </a:rPr>
              <a:t>TECHNICAL HANDBOOK  .  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Segoe UI"/>
              </a:rPr>
              <a:t>Dutopia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F4F6FA"/>
                </a:solidFill>
                <a:latin typeface="Segoe UI"/>
              </a:rPr>
              <a:t>High-scale filesystem analytics in 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B8C4DC"/>
                </a:solidFill>
                <a:latin typeface="Segoe UI"/>
              </a:rPr>
              <a:t>Tested to 1B+ files  .  30 PB storage  .  UTF-8 clean 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38D90"/>
                </a:solidFill>
                <a:latin typeface="Segoe UI"/>
              </a:rPr>
              <a:t>For the technical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ARCHITECTURE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The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3774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0F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377440" cy="41148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duscan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A6373"/>
                </a:solidFill>
                <a:latin typeface="Segoe UI"/>
              </a:rPr>
              <a:t>scan 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38D90"/>
                </a:solidFill>
                <a:latin typeface="Segoe UI"/>
              </a:rPr>
              <a:t>raw CSV / .zst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44368" y="2651760"/>
            <a:ext cx="329184" cy="365760"/>
          </a:xfrm>
          <a:prstGeom prst="rightArrow">
            <a:avLst/>
          </a:prstGeom>
          <a:solidFill>
            <a:srgbClr val="E3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103120"/>
            <a:ext cx="23774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0F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103120"/>
            <a:ext cx="2377440" cy="41148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1488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dusum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060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A6373"/>
                </a:solidFill>
                <a:latin typeface="Segoe UI"/>
              </a:rPr>
              <a:t>rollup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971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38D90"/>
                </a:solidFill>
                <a:latin typeface="Segoe UI"/>
              </a:rPr>
              <a:t>sum.csv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87568" y="2651760"/>
            <a:ext cx="329184" cy="365760"/>
          </a:xfrm>
          <a:prstGeom prst="rightArrow">
            <a:avLst/>
          </a:prstGeom>
          <a:solidFill>
            <a:srgbClr val="E3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2103120"/>
            <a:ext cx="23774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0F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2103120"/>
            <a:ext cx="2377440" cy="41148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1488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dudb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6060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A6373"/>
                </a:solidFill>
                <a:latin typeface="Segoe UI"/>
              </a:rPr>
              <a:t>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971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38D90"/>
                </a:solidFill>
                <a:latin typeface="Segoe UI"/>
              </a:rPr>
              <a:t>SQLite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430768" y="2651760"/>
            <a:ext cx="329184" cy="365760"/>
          </a:xfrm>
          <a:prstGeom prst="rightArrow">
            <a:avLst/>
          </a:prstGeom>
          <a:solidFill>
            <a:srgbClr val="E3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2103120"/>
            <a:ext cx="23774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0F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0" y="2103120"/>
            <a:ext cx="2377440" cy="41148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1488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duapi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6060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A6373"/>
                </a:solidFill>
                <a:latin typeface="Segoe UI"/>
              </a:rPr>
              <a:t>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971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38D90"/>
                </a:solidFill>
                <a:latin typeface="Segoe UI"/>
              </a:rPr>
              <a:t>REST + SPA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F2C"/>
                </a:solidFill>
                <a:latin typeface="Segoe UI"/>
              </a:rPr>
              <a:t>Each stage is a standalone binary with a strict, documented contract.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SIDE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663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E3A"/>
                </a:solidFill>
                <a:latin typeface="Segoe UI"/>
              </a:rPr>
              <a:t>duzip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778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A6373"/>
                </a:solidFill>
                <a:latin typeface="Segoe UI"/>
              </a:rPr>
              <a:t>CSV &lt;-&gt; zstd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1663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E3A"/>
                </a:solidFill>
                <a:latin typeface="Segoe UI"/>
              </a:rPr>
              <a:t>duhuman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5778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A6373"/>
                </a:solidFill>
                <a:latin typeface="Segoe UI"/>
              </a:rPr>
              <a:t>machine -&gt; human 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1663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E3A"/>
                </a:solidFill>
                <a:latin typeface="Segoe UI"/>
              </a:rPr>
              <a:t>dumachine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5778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A6373"/>
                </a:solidFill>
                <a:latin typeface="Segoe UI"/>
              </a:rPr>
              <a:t>human -&gt; machine 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STAGE 1 . 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duscan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A1F2C"/>
                </a:solidFill>
                <a:latin typeface="Segoe UI"/>
              </a:rPr>
              <a:t>Multi-threaded filesystem walker. Streams POSIX-like metadata for every file and directory.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F1E3A"/>
                </a:solidFill>
                <a:latin typeface="Segoe UI"/>
              </a:rPr>
              <a:t>Workers</a:t>
            </a:r>
            <a:r>
              <a:rPr sz="1400">
                <a:solidFill>
                  <a:srgbClr val="1A1F2C"/>
                </a:solidFill>
                <a:latin typeface="Segoe UI"/>
              </a:rPr>
              <a:t>   2 x CPU (cap 48)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E3A"/>
                </a:solidFill>
                <a:latin typeface="Segoe UI"/>
              </a:rPr>
              <a:t>Batch</a:t>
            </a:r>
            <a:r>
              <a:rPr sz="1400">
                <a:solidFill>
                  <a:srgbClr val="1A1F2C"/>
                </a:solidFill>
                <a:latin typeface="Segoe UI"/>
              </a:rPr>
              <a:t>   2048 files per task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E3A"/>
                </a:solidFill>
                <a:latin typeface="Segoe UI"/>
              </a:rPr>
              <a:t>Flush</a:t>
            </a:r>
            <a:r>
              <a:rPr sz="1400">
                <a:solidFill>
                  <a:srgbClr val="1A1F2C"/>
                </a:solidFill>
                <a:latin typeface="Segoe UI"/>
              </a:rPr>
              <a:t>   4 MB threshold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E3A"/>
                </a:solidFill>
                <a:latin typeface="Segoe UI"/>
              </a:rPr>
              <a:t>Buffer</a:t>
            </a:r>
            <a:r>
              <a:rPr sz="1400">
                <a:solidFill>
                  <a:srgbClr val="1A1F2C"/>
                </a:solidFill>
                <a:latin typeface="Segoe UI"/>
              </a:rPr>
              <a:t>   32 MB BufWriter per worker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E3A"/>
                </a:solidFill>
                <a:latin typeface="Segoe UI"/>
              </a:rPr>
              <a:t>Output</a:t>
            </a:r>
            <a:r>
              <a:rPr sz="1400">
                <a:solidFill>
                  <a:srgbClr val="1A1F2C"/>
                </a:solidFill>
                <a:latin typeface="Segoe UI"/>
              </a:rPr>
              <a:t>   sharded shards merged into a single file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E3A"/>
                </a:solidFill>
                <a:latin typeface="Segoe UI"/>
              </a:rPr>
              <a:t>--bin</a:t>
            </a:r>
            <a:r>
              <a:rPr sz="1400">
                <a:solidFill>
                  <a:srgbClr val="1A1F2C"/>
                </a:solidFill>
                <a:latin typeface="Segoe UI"/>
              </a:rPr>
              <a:t>   zstd binary instead of CSV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E3A"/>
                </a:solidFill>
                <a:latin typeface="Segoe UI"/>
              </a:rPr>
              <a:t>--no-atime</a:t>
            </a:r>
            <a:r>
              <a:rPr sz="1400">
                <a:solidFill>
                  <a:srgbClr val="1A1F2C"/>
                </a:solidFill>
                <a:latin typeface="Segoe UI"/>
              </a:rPr>
              <a:t>   zero ATIME for reproducible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CSV SCHEMA (9 fields)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651760"/>
            <a:ext cx="5303520" cy="914400"/>
          </a:xfrm>
          <a:prstGeom prst="rect">
            <a:avLst/>
          </a:prstGeom>
          <a:solidFill>
            <a:srgbClr val="1A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4E4FF"/>
                </a:solidFill>
                <a:latin typeface="Consolas"/>
              </a:rPr>
              <a:t>INODE,ATIME,MTIME,UID,GID,</a:t>
            </a:r>
          </a:p>
          <a:p>
            <a:pPr algn="l"/>
            <a:r>
              <a:rPr sz="1400">
                <a:solidFill>
                  <a:srgbClr val="D4E4FF"/>
                </a:solidFill>
                <a:latin typeface="Consolas"/>
              </a:rPr>
              <a:t>MODE,SIZE,DISK,PATH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INVOCATION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206240"/>
            <a:ext cx="5303520" cy="1645920"/>
          </a:xfrm>
          <a:prstGeom prst="rect">
            <a:avLst/>
          </a:prstGeom>
          <a:solidFill>
            <a:srgbClr val="1A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2976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4E4FF"/>
                </a:solidFill>
                <a:latin typeface="Consolas"/>
              </a:rPr>
              <a:t>$ duscan /data -o scan.csv</a:t>
            </a:r>
          </a:p>
          <a:p>
            <a:pPr algn="l"/>
            <a:r>
              <a:rPr sz="1200">
                <a:solidFill>
                  <a:srgbClr val="D4E4FF"/>
                </a:solidFill>
                <a:latin typeface="Consolas"/>
              </a:rPr>
              <a:t>$ duscan /data -o scan.zst --bin</a:t>
            </a:r>
          </a:p>
          <a:p>
            <a:pPr algn="l"/>
            <a:r>
              <a:rPr sz="1200">
                <a:solidFill>
                  <a:srgbClr val="D4E4FF"/>
                </a:solidFill>
                <a:latin typeface="Consolas"/>
              </a:rPr>
              <a:t>$ duscan /data -w 32 -f 1.2b</a:t>
            </a:r>
          </a:p>
          <a:p>
            <a:pPr algn="l"/>
            <a:r>
              <a:rPr sz="1200">
                <a:solidFill>
                  <a:srgbClr val="D4E4FF"/>
                </a:solidFill>
                <a:latin typeface="Consolas"/>
              </a:rPr>
              <a:t>$ duscan /a /b -s .cache -vv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STAGE 2 . ROLLUP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dusum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F2C"/>
                </a:solidFill>
                <a:latin typeface="Segoe UI"/>
              </a:rPr>
              <a:t>Aggregates raw rows by ancestor folder, owning user, and age bucket. Every ancestor of every file gets a row, so parent rollups already include all descendants - no recursive SUM at query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AGE BUCKETS (default: --age 60,600)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18288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2E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1828800" cy="457200"/>
          </a:xfrm>
          <a:prstGeom prst="rect">
            <a:avLst/>
          </a:prstGeom>
          <a:solidFill>
            <a:srgbClr val="2E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bucket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1A1F2C"/>
                </a:solidFill>
                <a:latin typeface="Segoe UI"/>
              </a:rPr>
              <a:t>&lt; 60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A6373"/>
                </a:solidFill>
                <a:latin typeface="Segoe UI"/>
              </a:rPr>
              <a:t>recent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474720"/>
            <a:ext cx="18288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3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3474720"/>
            <a:ext cx="1828800" cy="45720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3520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bucket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69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1A1F2C"/>
                </a:solidFill>
                <a:latin typeface="Segoe UI"/>
              </a:rPr>
              <a:t>60 - 600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4805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A6373"/>
                </a:solidFill>
                <a:latin typeface="Segoe UI"/>
              </a:rPr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474720"/>
            <a:ext cx="18288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B5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474720"/>
            <a:ext cx="1828800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520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bucket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069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1A1F2C"/>
                </a:solidFill>
                <a:latin typeface="Segoe UI"/>
              </a:rPr>
              <a:t>&gt;= 600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4805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A6373"/>
                </a:solidFill>
                <a:latin typeface="Segoe UI"/>
              </a:rPr>
              <a:t>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175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OUTPUT SCHEMA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474720"/>
            <a:ext cx="5303520" cy="1463040"/>
          </a:xfrm>
          <a:prstGeom prst="rect">
            <a:avLst/>
          </a:prstGeom>
          <a:solidFill>
            <a:srgbClr val="1A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566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path,user,age,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files,size,disk,linked,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accessed,modified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INVOCATION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A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669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$ dusum scan.csv -o scan.sum.csv --age 60,600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STAGE 3 . SQLITE INGESTER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dudb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A1F2C"/>
                </a:solidFill>
                <a:latin typeface="Segoe UI"/>
              </a:rPr>
              <a:t>Offline, one-shot CSV -&gt; SQLite. Never run by the API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WHY (not in-memory anymore)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3 GB CSV</a:t>
            </a:r>
            <a:r>
              <a:rPr sz="1300">
                <a:solidFill>
                  <a:srgbClr val="1A1F2C"/>
                </a:solidFill>
                <a:latin typeface="Segoe UI"/>
              </a:rPr>
              <a:t>   used to expand to 24 GB heap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Startup</a:t>
            </a:r>
            <a:r>
              <a:rPr sz="1300">
                <a:solidFill>
                  <a:srgbClr val="1A1F2C"/>
                </a:solidFill>
                <a:latin typeface="Segoe UI"/>
              </a:rPr>
              <a:t>   now fast and bounded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Queries</a:t>
            </a:r>
            <a:r>
              <a:rPr sz="1300">
                <a:solidFill>
                  <a:srgbClr val="1A1F2C"/>
                </a:solidFill>
                <a:latin typeface="Segoe UI"/>
              </a:rPr>
              <a:t>   remain interactive at 1B files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Frontend</a:t>
            </a:r>
            <a:r>
              <a:rPr sz="1300">
                <a:solidFill>
                  <a:srgbClr val="1A1F2C"/>
                </a:solidFill>
                <a:latin typeface="Segoe UI"/>
              </a:rPr>
              <a:t>   unchanged - API contract preserved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INGEST PRAGMAS (safe - DB is rebuildable)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743200"/>
            <a:ext cx="5303520" cy="1645920"/>
          </a:xfrm>
          <a:prstGeom prst="rect">
            <a:avLst/>
          </a:prstGeom>
          <a:solidFill>
            <a:srgbClr val="1A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8346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4E4FF"/>
                </a:solidFill>
                <a:latin typeface="Consolas"/>
              </a:rPr>
              <a:t>journal_mode = WAL</a:t>
            </a:r>
          </a:p>
          <a:p>
            <a:pPr algn="l"/>
            <a:r>
              <a:rPr sz="1200">
                <a:solidFill>
                  <a:srgbClr val="D4E4FF"/>
                </a:solidFill>
                <a:latin typeface="Consolas"/>
              </a:rPr>
              <a:t>synchronous  = OFF</a:t>
            </a:r>
          </a:p>
          <a:p>
            <a:pPr algn="l"/>
            <a:r>
              <a:rPr sz="1200">
                <a:solidFill>
                  <a:srgbClr val="D4E4FF"/>
                </a:solidFill>
                <a:latin typeface="Consolas"/>
              </a:rPr>
              <a:t>temp_store   = MEMORY</a:t>
            </a:r>
          </a:p>
          <a:p>
            <a:pPr algn="l"/>
            <a:r>
              <a:rPr sz="1200">
                <a:solidFill>
                  <a:srgbClr val="D4E4FF"/>
                </a:solidFill>
                <a:latin typeface="Consolas"/>
              </a:rPr>
              <a:t>cache_size   = -262144</a:t>
            </a:r>
          </a:p>
          <a:p>
            <a:pPr algn="l"/>
            <a:r>
              <a:rPr sz="1200">
                <a:solidFill>
                  <a:srgbClr val="D4E4FF"/>
                </a:solidFill>
                <a:latin typeface="Consolas"/>
              </a:rPr>
              <a:t>foreign_keys =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INVOCATION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937760"/>
            <a:ext cx="5303520" cy="1188720"/>
          </a:xfrm>
          <a:prstGeom prst="rect">
            <a:avLst/>
          </a:prstGeom>
          <a:solidFill>
            <a:srgbClr val="1A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$ dudb data.sum.csv -o data.db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$ dudb data.sum.csv --rebuild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WHAT DUDB WRITES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SQLite schema v2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6675120" cy="4297680"/>
          </a:xfrm>
          <a:prstGeom prst="rect">
            <a:avLst/>
          </a:prstGeom>
          <a:solidFill>
            <a:srgbClr val="1A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CREATE TABLE users (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  id   INTEGER PRIMARY KEY,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  name TEXT NOT NULL UNIQUE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);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CREATE TABLE paths (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  id        INTEGER PRIMARY KEY,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  parent_id INTEGER,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  full_path TEXT NOT NULL UNIQUE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);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CREATE INDEX idx_paths_parent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  ON paths(parent_id);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CREATE TABLE stats (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  path_id, user_id, age,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  file_count, file_size, disk_bytes,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  linked_size, atime, mtime,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  PRIMARY KEY (path_id,user_id,age)</a:t>
            </a:r>
          </a:p>
          <a:p>
            <a:pPr algn="l"/>
            <a:r>
              <a:rPr sz="1100">
                <a:solidFill>
                  <a:srgbClr val="D4E4FF"/>
                </a:solidFill>
                <a:latin typeface="Consolas"/>
              </a:rPr>
              <a:t>) WITHOUT ROWID;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288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DESIGN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24028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Byte-for-byte paths</a:t>
            </a:r>
            <a:r>
              <a:rPr sz="1200">
                <a:solidFill>
                  <a:srgbClr val="1A1F2C"/>
                </a:solidFill>
                <a:latin typeface="Segoe UI"/>
              </a:rPr>
              <a:t>   stored exactly as dusum wrote them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Synthetic root</a:t>
            </a:r>
            <a:r>
              <a:rPr sz="1200">
                <a:solidFill>
                  <a:srgbClr val="1A1F2C"/>
                </a:solidFill>
                <a:latin typeface="Segoe UI"/>
              </a:rPr>
              <a:t>   full_path="" above every platform root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Windows-native</a:t>
            </a:r>
            <a:r>
              <a:rPr sz="1200">
                <a:solidFill>
                  <a:srgbClr val="1A1F2C"/>
                </a:solidFill>
                <a:latin typeface="Segoe UI"/>
              </a:rPr>
              <a:t>   C:\Users, \\srv on Windows DBs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WITHOUT ROWID</a:t>
            </a:r>
            <a:r>
              <a:rPr sz="1200">
                <a:solidFill>
                  <a:srgbClr val="1A1F2C"/>
                </a:solidFill>
                <a:latin typeface="Segoe UI"/>
              </a:rPr>
              <a:t>   PK is the natural clustering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schema_version</a:t>
            </a:r>
            <a:r>
              <a:rPr sz="1200">
                <a:solidFill>
                  <a:srgbClr val="1A1F2C"/>
                </a:solidFill>
                <a:latin typeface="Segoe UI"/>
              </a:rPr>
              <a:t>   validated at duapi startup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Size scales with</a:t>
            </a:r>
            <a:r>
              <a:rPr sz="1200">
                <a:solidFill>
                  <a:srgbClr val="1A1F2C"/>
                </a:solidFill>
                <a:latin typeface="Segoe UI"/>
              </a:rPr>
              <a:t>   folders x users x 3 ages, not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STAGE 4 . REST API + SPA 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duapi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F2C"/>
                </a:solidFill>
                <a:latin typeface="Segoe UI"/>
              </a:rPr>
              <a:t>Axum server. Read-only r2d2 pool over SQLite. Serves the SPA from a static directory.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STARTUP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JWT_SECRET</a:t>
            </a:r>
            <a:r>
              <a:rPr sz="1300">
                <a:solidFill>
                  <a:srgbClr val="1A1F2C"/>
                </a:solidFill>
                <a:latin typeface="Segoe UI"/>
              </a:rPr>
              <a:t>   required or exits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Pool size</a:t>
            </a:r>
            <a:r>
              <a:rPr sz="1300">
                <a:solidFill>
                  <a:srgbClr val="1A1F2C"/>
                </a:solidFill>
                <a:latin typeface="Segoe UI"/>
              </a:rPr>
              <a:t>   max(num_cpus, 4)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Per conn</a:t>
            </a:r>
            <a:r>
              <a:rPr sz="1300">
                <a:solidFill>
                  <a:srgbClr val="1A1F2C"/>
                </a:solidFill>
                <a:latin typeface="Segoe UI"/>
              </a:rPr>
              <a:t>   query_only + 30 GB mmap + 64 MB cache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Schema</a:t>
            </a:r>
            <a:r>
              <a:rPr sz="1300">
                <a:solidFill>
                  <a:srgbClr val="1A1F2C"/>
                </a:solidFill>
                <a:latin typeface="Segoe UI"/>
              </a:rPr>
              <a:t>   rejects if metadata.schema_version != 2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User list</a:t>
            </a:r>
            <a:r>
              <a:rPr sz="1300">
                <a:solidFill>
                  <a:srgbClr val="1A1F2C"/>
                </a:solidFill>
                <a:latin typeface="Segoe UI"/>
              </a:rPr>
              <a:t>   cached into OnceLock at 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MIDDLEWARE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CORS</a:t>
            </a:r>
            <a:r>
              <a:rPr sz="1300">
                <a:solidFill>
                  <a:srgbClr val="1A1F2C"/>
                </a:solidFill>
                <a:latin typeface="Segoe UI"/>
              </a:rPr>
              <a:t>   CORS_ORIGIN if set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Timeout</a:t>
            </a:r>
            <a:r>
              <a:rPr sz="1300">
                <a:solidFill>
                  <a:srgbClr val="1A1F2C"/>
                </a:solidFill>
                <a:latin typeface="Segoe UI"/>
              </a:rPr>
              <a:t>   REQUEST_TIMEOUT_SECS (30)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Body limit</a:t>
            </a:r>
            <a:r>
              <a:rPr sz="1300">
                <a:solidFill>
                  <a:srgbClr val="1A1F2C"/>
                </a:solidFill>
                <a:latin typeface="Segoe UI"/>
              </a:rPr>
              <a:t>   MAX_BODY_BYTES (64 KB)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Rate limit</a:t>
            </a:r>
            <a:r>
              <a:rPr sz="1300">
                <a:solidFill>
                  <a:srgbClr val="1A1F2C"/>
                </a:solidFill>
                <a:latin typeface="Segoe UI"/>
              </a:rPr>
              <a:t>   RATE_LIMIT_PER_MIN (300) via tower_governor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Shutdown</a:t>
            </a:r>
            <a:r>
              <a:rPr sz="1300">
                <a:solidFill>
                  <a:srgbClr val="1A1F2C"/>
                </a:solidFill>
                <a:latin typeface="Segoe UI"/>
              </a:rPr>
              <a:t>   graceful on SIGTERM / SIGINT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DB work</a:t>
            </a:r>
            <a:r>
              <a:rPr sz="1300">
                <a:solidFill>
                  <a:srgbClr val="1A1F2C"/>
                </a:solidFill>
                <a:latin typeface="Segoe UI"/>
              </a:rPr>
              <a:t>   tokio::task::spawn_blocking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STAGE 4 .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REST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4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822960" cy="64008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7568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7568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E3A"/>
                </a:solidFill>
                <a:latin typeface="Consolas"/>
              </a:rPr>
              <a:t>/api/health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031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A6373"/>
                </a:solidFill>
                <a:latin typeface="Segoe UI"/>
              </a:rPr>
              <a:t>liveness . unauth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11247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4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822960" cy="64008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5292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5292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E3A"/>
                </a:solidFill>
                <a:latin typeface="Consolas"/>
              </a:rPr>
              <a:t>/api/login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8803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A6373"/>
                </a:solidFill>
                <a:latin typeface="Segoe UI"/>
              </a:rPr>
              <a:t>username/password -&gt; 24h JWT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4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822960" cy="64008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3016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3016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E3A"/>
                </a:solidFill>
                <a:latin typeface="Consolas"/>
              </a:rPr>
              <a:t>/api/users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65760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A6373"/>
                </a:solidFill>
                <a:latin typeface="Segoe UI"/>
              </a:rPr>
              <a:t>admins: all . others: self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51960"/>
            <a:ext cx="11247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4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822960" cy="64008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074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40740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E3A"/>
                </a:solidFill>
                <a:latin typeface="Consolas"/>
              </a:rPr>
              <a:t>/api/folders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4348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A6373"/>
                </a:solidFill>
                <a:latin typeface="Segoe UI"/>
              </a:rPr>
              <a:t>children by user + age (from SQLite)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4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822960" cy="64008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8464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18464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E3A"/>
                </a:solidFill>
                <a:latin typeface="Consolas"/>
              </a:rPr>
              <a:t>/api/files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2120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A6373"/>
                </a:solidFill>
                <a:latin typeface="Segoe UI"/>
              </a:rPr>
              <a:t>regular files in dir (live FS, not DB)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/folders and /files accept: path (OS-native), users (CSV), age (0/1/2). Non-admins must pass their own username.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JWT + OS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F2C"/>
                </a:solidFill>
                <a:latin typeface="Segoe UI"/>
              </a:rPr>
              <a:t>Login hits the host OS. On success, issue a 24h HS256 JWT.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47120" cy="822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37160" cy="82296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7004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F1E3A"/>
                </a:solidFill>
                <a:latin typeface="Segoe UI"/>
              </a:rPr>
              <a:t>macOS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974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C"/>
                </a:solidFill>
                <a:latin typeface="Consolas"/>
              </a:rPr>
              <a:t>dscl . -authonly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175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Segoe UI"/>
              </a:rPr>
              <a:t>native directory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11247120" cy="822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137160" cy="82296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8444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F1E3A"/>
                </a:solidFill>
                <a:latin typeface="Segoe UI"/>
              </a:rPr>
              <a:t>Linux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6118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C"/>
                </a:solidFill>
                <a:latin typeface="Consolas"/>
              </a:rPr>
              <a:t>su &lt;user&gt; -c 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9319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Segoe UI"/>
              </a:rPr>
              <a:t>password on stdin; exit code decides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1247120" cy="822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137160" cy="822960"/>
          </a:xfrm>
          <a:prstGeom prst="rect">
            <a:avLst/>
          </a:prstGeom>
          <a:solidFill>
            <a:srgbClr val="13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9884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F1E3A"/>
                </a:solidFill>
                <a:latin typeface="Segoe UI"/>
              </a:rPr>
              <a:t>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5262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C"/>
                </a:solidFill>
                <a:latin typeface="Consolas"/>
              </a:rPr>
              <a:t>fake auth (dev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8463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Segoe UI"/>
              </a:rPr>
              <a:t>matches %USERNAME% / FAKE_USER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FF2E0"/>
          </a:solidFill>
          <a:ln>
            <a:solidFill>
              <a:srgbClr val="E3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38A1C"/>
                </a:solidFill>
                <a:latin typeface="Segoe UI"/>
              </a:rPr>
              <a:t>WARNING  .  ADMIN_PASSWORD override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Bypasses auth for CI / dev. Grants admin without ADMIN_GROUP. Never set in production.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ONE CONTRACT FOR ALL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Path normalization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F2C"/>
                </a:solidFill>
                <a:latin typeface="Segoe UI"/>
              </a:rPr>
              <a:t>The DB stores paths byte-for-byte as dusum wrote them. duapi normalizes the request into that same OS-native form - no second canonicalization pass.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1E3A"/>
                </a:solidFill>
                <a:latin typeface="Consolas"/>
              </a:rPr>
              <a:t>""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816352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C"/>
                </a:solidFill>
                <a:latin typeface="Segoe UI"/>
              </a:rPr>
              <a:t>synthetic root (lists platform roots)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735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1E3A"/>
                </a:solidFill>
                <a:latin typeface="Consolas"/>
              </a:rPr>
              <a:t>"/"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73552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C"/>
                </a:solidFill>
                <a:latin typeface="Segoe UI"/>
              </a:rPr>
              <a:t>Unix root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307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1E3A"/>
                </a:solidFill>
                <a:latin typeface="Consolas"/>
              </a:rPr>
              <a:t>"C:" / "C:\\"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730752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C"/>
                </a:solidFill>
                <a:latin typeface="Segoe UI"/>
              </a:rPr>
              <a:t>-&gt; C:\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879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1E3A"/>
                </a:solidFill>
                <a:latin typeface="Consolas"/>
              </a:rPr>
              <a:t>"\\\\srv\\s"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187952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C"/>
                </a:solidFill>
                <a:latin typeface="Segoe UI"/>
              </a:rPr>
              <a:t>UNC preserved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451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1E3A"/>
                </a:solidFill>
                <a:latin typeface="Consolas"/>
              </a:rPr>
              <a:t>"/a//b/./c"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645152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C"/>
                </a:solidFill>
                <a:latin typeface="Segoe UI"/>
              </a:rPr>
              <a:t>-&gt; /a/b/c  (dup sep + dot collapsed)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023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1E3A"/>
                </a:solidFill>
                <a:latin typeface="Consolas"/>
              </a:rPr>
              <a:t>"/a/../b"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102352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C"/>
                </a:solidFill>
                <a:latin typeface="Segoe UI"/>
              </a:rPr>
              <a:t>rejected (400)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595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1E3A"/>
                </a:solidFill>
                <a:latin typeface="Consolas"/>
              </a:rPr>
              <a:t>"/a\0/b"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559552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C"/>
                </a:solidFill>
                <a:latin typeface="Segoe UI"/>
              </a:rPr>
              <a:t>rejected (400 - NUL byte)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SVELTEKIT 2 + SVELTE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SvelteKit</a:t>
            </a:r>
            <a:r>
              <a:rPr sz="1300">
                <a:solidFill>
                  <a:srgbClr val="1A1F2C"/>
                </a:solidFill>
                <a:latin typeface="Segoe UI"/>
              </a:rPr>
              <a:t>   2 + adapter-static (no SSR)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Svelte</a:t>
            </a:r>
            <a:r>
              <a:rPr sz="1300">
                <a:solidFill>
                  <a:srgbClr val="1A1F2C"/>
                </a:solidFill>
                <a:latin typeface="Segoe UI"/>
              </a:rPr>
              <a:t>   5 (runes, $state)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Tailwind</a:t>
            </a:r>
            <a:r>
              <a:rPr sz="1300">
                <a:solidFill>
                  <a:srgbClr val="1A1F2C"/>
                </a:solidFill>
                <a:latin typeface="Segoe UI"/>
              </a:rPr>
              <a:t>   4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Build tool</a:t>
            </a:r>
            <a:r>
              <a:rPr sz="1300">
                <a:solidFill>
                  <a:srgbClr val="1A1F2C"/>
                </a:solidFill>
                <a:latin typeface="Segoe UI"/>
              </a:rPr>
              <a:t>   Vite 6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E3A"/>
                </a:solidFill>
                <a:latin typeface="Segoe UI"/>
              </a:rPr>
              <a:t>Cache</a:t>
            </a:r>
            <a:r>
              <a:rPr sz="1300">
                <a:solidFill>
                  <a:srgbClr val="1A1F2C"/>
                </a:solidFill>
                <a:latin typeface="Segoe UI"/>
              </a:rPr>
              <a:t>   idb 8 (1 min TTL per request)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DESKTOP VARIANT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548640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C"/>
                </a:solidFill>
                <a:latin typeface="Segoe UI"/>
              </a:rPr>
              <a:t>desktop/ bundles the same UI in Tauri 2 with a Rust backend (src-tauri/).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KEY LIB COMPONENTS (browser/src/lib/)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40280"/>
            <a:ext cx="5303520" cy="4114800"/>
          </a:xfrm>
          <a:prstGeom prst="rect">
            <a:avLst/>
          </a:prstGeom>
          <a:solidFill>
            <a:srgbClr val="1A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ActionBar          PageNav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AgeFilter          PathStats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CopyToast          PickerButton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FileBar            PickerWrapper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FolderBar          SortDropdown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Login              Tooltip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TreeMap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ENV VARS . CLI FLAGS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ENV 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0195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0195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JWT_SECRET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86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(required)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2860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HMAC secret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69464"/>
            <a:ext cx="11247120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15184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ADMIN_GROUP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615184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(empty)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15184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CSV of admin usernames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98648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44368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ADMIN_PASSWORD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944368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(unset)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944368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DEV ONLY override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27832"/>
            <a:ext cx="11247120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73552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273552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8080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273552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listen 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57016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02736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STATIC_DIR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602736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./public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602736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SPA directory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86200"/>
            <a:ext cx="11247120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CORS_ORIGIN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93192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(none)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931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explicit CORS origin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15384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261104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TLS_CERT / TLS_KEY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261104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(none)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261104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enable HTTPS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44568"/>
            <a:ext cx="11247120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90288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REQUEST_TIMEOUT_SECS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590288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590288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per-request timeout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873752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MAX_BODY_BYTES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4919472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65536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919472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request body cap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202936"/>
            <a:ext cx="11247120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248656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RATE_LIMIT_PER_MIN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5248656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300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5248656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governor, per IP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532120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5778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MAX_PAGE_SIZE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557784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2000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55778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cap on /folders and /files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861304"/>
            <a:ext cx="11247120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907024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E3A"/>
                </a:solidFill>
                <a:latin typeface="Consolas"/>
              </a:rPr>
              <a:t>FAKE_USER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5907024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Consolas"/>
              </a:rPr>
              <a:t>%USERNAME%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5907024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Segoe UI"/>
              </a:rPr>
              <a:t>Windows dev-auth user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BUILD . SCAN . 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Quickstart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4114800"/>
          </a:xfrm>
          <a:prstGeom prst="rect">
            <a:avLst/>
          </a:prstGeom>
          <a:solidFill>
            <a:srgbClr val="1A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# 1) Build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$ cd rs &amp;&amp; cargo build --release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$ cd ../browser &amp;&amp; npm install &amp;&amp; npm run build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# 2) Scan, roll up, build the DB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$ ./rs/target/release/duscan  /data           -o /tmp/data.csv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$ ./rs/target/release/dusum   /tmp/data.csv   -o /tmp/data.sum.csv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$ ./rs/target/release/dudb    /tmp/data.sum.csv -o /tmp/data.db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# 3) Serve API + UI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$ JWT_SECRET=&lt;secret&gt; ADMIN_GROUP=root,alice \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    ./rs/target/release/duapi /tmp/data.db \</a:t>
            </a:r>
          </a:p>
          <a:p>
            <a:pPr algn="l"/>
            <a:r>
              <a:rPr sz="1300">
                <a:solidFill>
                  <a:srgbClr val="D4E4FF"/>
                </a:solidFill>
                <a:latin typeface="Consolas"/>
              </a:rPr>
              <a:t>    --static-dir ./browser/build --port 8000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38D90"/>
                </a:solidFill>
                <a:latin typeface="Segoe UI"/>
              </a:rPr>
              <a:t>Open http://localhost:8000  .  log in with an OS account.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DUTOPIA  .  TECHNICAL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Segoe UI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WHAT TO KNOW BEFORE YOU 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E3A"/>
                </a:solidFill>
                <a:latin typeface="Segoe UI"/>
              </a:rPr>
              <a:t>Scale +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0" cy="4572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SCALE CHARACTERISTICS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DB size</a:t>
            </a:r>
            <a:r>
              <a:rPr sz="1200">
                <a:solidFill>
                  <a:srgbClr val="1A1F2C"/>
                </a:solidFill>
                <a:latin typeface="Segoe UI"/>
              </a:rPr>
              <a:t>   folders x users x 3 ages (not files)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Hot query</a:t>
            </a:r>
            <a:r>
              <a:rPr sz="1200">
                <a:solidFill>
                  <a:srgbClr val="1A1F2C"/>
                </a:solidFill>
                <a:latin typeface="Segoe UI"/>
              </a:rPr>
              <a:t>   one PK lookup + one range scan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Warm cache</a:t>
            </a:r>
            <a:r>
              <a:rPr sz="1200">
                <a:solidFill>
                  <a:srgbClr val="1A1F2C"/>
                </a:solidFill>
                <a:latin typeface="Segoe UI"/>
              </a:rPr>
              <a:t>   sub-ms per /folders call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RSS</a:t>
            </a:r>
            <a:r>
              <a:rPr sz="1200">
                <a:solidFill>
                  <a:srgbClr val="1A1F2C"/>
                </a:solidFill>
                <a:latin typeface="Segoe UI"/>
              </a:rPr>
              <a:t>   dominated by mmap / page cache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Ingest bottleneck</a:t>
            </a:r>
            <a:r>
              <a:rPr sz="1200">
                <a:solidFill>
                  <a:srgbClr val="1A1F2C"/>
                </a:solidFill>
                <a:latin typeface="Segoe UI"/>
              </a:rPr>
              <a:t>   dudb path cache (swap for DB-backed on extremes)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Docker</a:t>
            </a:r>
            <a:r>
              <a:rPr sz="1200">
                <a:solidFill>
                  <a:srgbClr val="1A1F2C"/>
                </a:solidFill>
                <a:latin typeface="Segoe UI"/>
              </a:rPr>
              <a:t>   multi-stage; dudb as init job, not on start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systemd</a:t>
            </a:r>
            <a:r>
              <a:rPr sz="1200">
                <a:solidFill>
                  <a:srgbClr val="1A1F2C"/>
                </a:solidFill>
                <a:latin typeface="Segoe UI"/>
              </a:rPr>
              <a:t>   unit runs duapi; env file holds JWT_SECRET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Proxy</a:t>
            </a:r>
            <a:r>
              <a:rPr sz="1200">
                <a:solidFill>
                  <a:srgbClr val="1A1F2C"/>
                </a:solidFill>
                <a:latin typeface="Segoe UI"/>
              </a:rPr>
              <a:t>   nginx/caddy terminates TLS; forward to 127.0.0.1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Hardening</a:t>
            </a:r>
            <a:r>
              <a:rPr sz="1200">
                <a:solidFill>
                  <a:srgbClr val="1A1F2C"/>
                </a:solidFill>
                <a:latin typeface="Segoe UI"/>
              </a:rPr>
              <a:t>   non-root user, TLS on, no ADMIN_PASSWORD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E3A"/>
                </a:solidFill>
                <a:latin typeface="Segoe UI"/>
              </a:rPr>
              <a:t>CI</a:t>
            </a:r>
            <a:r>
              <a:rPr sz="1200">
                <a:solidFill>
                  <a:srgbClr val="1A1F2C"/>
                </a:solidFill>
                <a:latin typeface="Segoe UI"/>
              </a:rPr>
              <a:t>   cargo test -r + npm run build on 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Segoe UI"/>
              </a:rPr>
              <a:t>Rust + SvelteKit  .  github.com/sganis/dutopia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274320" cy="914400"/>
          </a:xfrm>
          <a:prstGeom prst="rect">
            <a:avLst/>
          </a:prstGeom>
          <a:solidFill>
            <a:srgbClr val="E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4F6FA"/>
                </a:solidFill>
                <a:latin typeface="Segoe UI"/>
              </a:rPr>
              <a:t>Full reference: doc/handbook.md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38D90"/>
                </a:solidFill>
                <a:latin typeface="Segoe UI"/>
              </a:rPr>
              <a:t>Repo: github.com/sganis/dutopia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8D90"/>
                </a:solidFill>
                <a:latin typeface="Segoe UI"/>
              </a:rPr>
              <a:t>Dutopia  .  Rust + SvelteKit  .  v4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